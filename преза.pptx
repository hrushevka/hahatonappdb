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rgbClr val="F4F7FB"/>
        </a:solidFill>
        <a:effectLst/>
      </p:bgPr>
    </p:bg>
    <p:spTree>
      <p:nvGrpSpPr>
        <p:cNvPr id="1" name="GroupShape 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Group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Group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defPPr/>
      <a:lvl1pPr lvl="0" algn="ctr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marL="342900" lvl="0" indent="-342900" algn="l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marL="0" lvl="0" indent="0" algn="l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02919" y="292608"/>
            <a:ext cx="1737359" cy="365760"/>
          </a:xfrm>
          <a:prstGeom prst="roundRect">
            <a:avLst>
              <a:gd name="adj" fmla="val 30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5E9F2">
                <a:alpha val="80000"/>
              </a:srgbClr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630936" y="365760"/>
            <a:ext cx="201168" cy="20116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10" name="Shape 10"/>
          <p:cNvSpPr/>
          <p:nvPr/>
        </p:nvSpPr>
        <p:spPr>
          <a:xfrm>
            <a:off x="886967" y="338328"/>
            <a:ext cx="1234440" cy="228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r>
              <a:rPr lang="en-US" sz="1100" b="1" dirty="0" err="1">
                <a:solidFill>
                  <a:srgbClr val="202124"/>
                </a:solidFill>
                <a:ea typeface="Segoe UI"/>
                <a:cs typeface="Segoe UI"/>
              </a:rPr>
              <a:t>WebHack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749808" y="1042416"/>
            <a:ext cx="2697480" cy="384047"/>
          </a:xfrm>
          <a:prstGeom prst="roundRect">
            <a:avLst>
              <a:gd name="adj" fmla="val 3333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749808" y="1060704"/>
            <a:ext cx="2697480" cy="36575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1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Платформа для проведения хакатонов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749808" y="2660905"/>
            <a:ext cx="4480560" cy="62179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/>
          <a:lstStyle/>
          <a:p>
            <a:pPr marL="0" indent="0" algn="l"/>
            <a:r>
              <a:rPr lang="en-US" sz="310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WebHack</a:t>
            </a:r>
            <a:endParaRPr lang="en-US" sz="3100" b="1" dirty="0">
              <a:solidFill>
                <a:srgbClr val="202124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768095" y="3557016"/>
            <a:ext cx="3931920" cy="2926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/>
          <a:lstStyle/>
          <a:p>
            <a:pPr marL="0" indent="0" algn="l"/>
            <a:r>
              <a:rPr sz="1700" b="1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Команда</a:t>
            </a:r>
            <a:r>
              <a:rPr sz="1700" b="1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«</a:t>
            </a:r>
            <a:r>
              <a:rPr sz="1700" b="1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Хакеры</a:t>
            </a:r>
            <a:r>
              <a:rPr sz="1700" b="1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00" b="1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будущего</a:t>
            </a:r>
            <a:r>
              <a:rPr sz="1700" b="1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»</a:t>
            </a:r>
            <a:endParaRPr sz="17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768096" y="2880360"/>
            <a:ext cx="4663440" cy="82296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endParaRPr sz="17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768096" y="3767327"/>
            <a:ext cx="1234440" cy="62179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indent="0" algn="ctr"/>
            <a:r>
              <a:rPr lang="en-US" sz="1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</a:t>
            </a:r>
            <a:endParaRPr sz="11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2066544" y="3703321"/>
            <a:ext cx="1225296" cy="68579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lang="en-US" sz="11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ctr"/>
            <a:endParaRPr sz="11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3355848" y="3767327"/>
            <a:ext cx="1353311" cy="62179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1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4709159" y="3703321"/>
            <a:ext cx="1545337" cy="68579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1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6450863" y="1426464"/>
            <a:ext cx="5138928" cy="4005072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7" name="Shape 27"/>
          <p:cNvSpPr/>
          <p:nvPr/>
        </p:nvSpPr>
        <p:spPr>
          <a:xfrm>
            <a:off x="6450863" y="1426464"/>
            <a:ext cx="5138928" cy="384047"/>
          </a:xfrm>
          <a:prstGeom prst="roundRect">
            <a:avLst>
              <a:gd name="adj" fmla="val 52381"/>
            </a:avLst>
          </a:prstGeom>
          <a:solidFill>
            <a:srgbClr val="E8F0FE"/>
          </a:solidFill>
          <a:ln>
            <a:prstDash val="solid"/>
          </a:ln>
        </p:spPr>
      </p:sp>
      <p:sp>
        <p:nvSpPr>
          <p:cNvPr id="28" name="Shape 28"/>
          <p:cNvSpPr/>
          <p:nvPr/>
        </p:nvSpPr>
        <p:spPr>
          <a:xfrm>
            <a:off x="6652031" y="1545336"/>
            <a:ext cx="73152" cy="73152"/>
          </a:xfrm>
          <a:prstGeom prst="ellipse">
            <a:avLst/>
          </a:prstGeom>
          <a:solidFill>
            <a:srgbClr val="9BB9F0"/>
          </a:solidFill>
          <a:ln>
            <a:prstDash val="solid"/>
          </a:ln>
        </p:spPr>
      </p:sp>
      <p:sp>
        <p:nvSpPr>
          <p:cNvPr id="29" name="Shape 29"/>
          <p:cNvSpPr/>
          <p:nvPr/>
        </p:nvSpPr>
        <p:spPr>
          <a:xfrm>
            <a:off x="6780047" y="1545336"/>
            <a:ext cx="73152" cy="73152"/>
          </a:xfrm>
          <a:prstGeom prst="ellipse">
            <a:avLst/>
          </a:prstGeom>
          <a:solidFill>
            <a:srgbClr val="BFD0F0"/>
          </a:solidFill>
          <a:ln>
            <a:prstDash val="solid"/>
          </a:ln>
        </p:spPr>
      </p:sp>
      <p:sp>
        <p:nvSpPr>
          <p:cNvPr id="30" name="Shape 30"/>
          <p:cNvSpPr/>
          <p:nvPr/>
        </p:nvSpPr>
        <p:spPr>
          <a:xfrm>
            <a:off x="6908063" y="1545336"/>
            <a:ext cx="73152" cy="73152"/>
          </a:xfrm>
          <a:prstGeom prst="ellipse">
            <a:avLst/>
          </a:prstGeom>
          <a:solidFill>
            <a:srgbClr val="DCE7F7"/>
          </a:solidFill>
          <a:ln>
            <a:prstDash val="solid"/>
          </a:ln>
        </p:spPr>
      </p:sp>
      <p:sp>
        <p:nvSpPr>
          <p:cNvPr id="35" name="Shape 35"/>
          <p:cNvSpPr/>
          <p:nvPr/>
        </p:nvSpPr>
        <p:spPr>
          <a:xfrm>
            <a:off x="6839712" y="4992624"/>
            <a:ext cx="1847088" cy="2194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6839712" y="5248656"/>
            <a:ext cx="1847088" cy="1828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0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9253728" y="4992624"/>
            <a:ext cx="1847088" cy="2194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9253728" y="5248656"/>
            <a:ext cx="1847088" cy="1828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0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0C88F8-806E-6E3B-D749-E68FB3CBA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938" y="130891"/>
            <a:ext cx="1172940" cy="1172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05" y="41147"/>
            <a:ext cx="12191695" cy="6858000"/>
          </a:xfrm>
          <a:prstGeom prst="rect">
            <a:avLst/>
          </a:prstGeom>
        </p:spPr>
      </p:pic>
      <p:sp>
        <p:nvSpPr>
          <p:cNvPr id="83" name="Shape 83"/>
          <p:cNvSpPr/>
          <p:nvPr/>
        </p:nvSpPr>
        <p:spPr>
          <a:xfrm>
            <a:off x="502919" y="292608"/>
            <a:ext cx="1536192" cy="365760"/>
          </a:xfrm>
          <a:prstGeom prst="roundRect">
            <a:avLst>
              <a:gd name="adj" fmla="val 30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5E9F2">
                <a:alpha val="80000"/>
              </a:srgbClr>
            </a:solidFill>
            <a:prstDash val="solid"/>
          </a:ln>
        </p:spPr>
      </p:sp>
      <p:sp>
        <p:nvSpPr>
          <p:cNvPr id="84" name="Shape 84"/>
          <p:cNvSpPr/>
          <p:nvPr/>
        </p:nvSpPr>
        <p:spPr>
          <a:xfrm>
            <a:off x="630936" y="365760"/>
            <a:ext cx="201168" cy="20116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85" name="Shape 85"/>
          <p:cNvSpPr/>
          <p:nvPr/>
        </p:nvSpPr>
        <p:spPr>
          <a:xfrm>
            <a:off x="905256" y="338328"/>
            <a:ext cx="1033272" cy="228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r>
              <a:rPr lang="en-US" sz="1100" b="1" dirty="0" err="1">
                <a:solidFill>
                  <a:srgbClr val="202124"/>
                </a:solidFill>
                <a:ea typeface="Segoe UI"/>
                <a:cs typeface="Segoe UI"/>
              </a:rPr>
              <a:t>WebHack</a:t>
            </a:r>
            <a:endParaRPr lang="en-US" sz="1100" dirty="0"/>
          </a:p>
        </p:txBody>
      </p:sp>
      <p:sp>
        <p:nvSpPr>
          <p:cNvPr id="90" name="Shape 90"/>
          <p:cNvSpPr/>
          <p:nvPr/>
        </p:nvSpPr>
        <p:spPr>
          <a:xfrm>
            <a:off x="3977640" y="219456"/>
            <a:ext cx="5029200" cy="512064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280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Представление</a:t>
            </a:r>
            <a:r>
              <a:rPr sz="280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0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проекта</a:t>
            </a:r>
            <a:endParaRPr sz="2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1" name="Shape 91"/>
          <p:cNvSpPr/>
          <p:nvPr/>
        </p:nvSpPr>
        <p:spPr>
          <a:xfrm>
            <a:off x="4995431" y="752296"/>
            <a:ext cx="4389120" cy="20116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Как</a:t>
            </a:r>
            <a:r>
              <a:rPr sz="1250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работает</a:t>
            </a:r>
            <a:r>
              <a:rPr sz="1250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система</a:t>
            </a:r>
            <a:endParaRPr sz="12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2" name="Shape 92"/>
          <p:cNvSpPr/>
          <p:nvPr/>
        </p:nvSpPr>
        <p:spPr>
          <a:xfrm>
            <a:off x="685800" y="1395741"/>
            <a:ext cx="10981943" cy="4974336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95" name="Shape 95"/>
          <p:cNvSpPr/>
          <p:nvPr/>
        </p:nvSpPr>
        <p:spPr>
          <a:xfrm>
            <a:off x="1042415" y="2131355"/>
            <a:ext cx="4297680" cy="6766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/>
            <a:r>
              <a:rPr sz="23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Одна</a:t>
            </a:r>
            <a:r>
              <a:rPr sz="235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платформа</a:t>
            </a:r>
            <a:r>
              <a:rPr sz="235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— </a:t>
            </a:r>
            <a:r>
              <a:rPr sz="23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весь</a:t>
            </a:r>
            <a:r>
              <a:rPr sz="235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цикл</a:t>
            </a:r>
            <a:r>
              <a:rPr sz="235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3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хакатона</a:t>
            </a:r>
            <a:endParaRPr sz="2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1042415" y="2857900"/>
            <a:ext cx="10401059" cy="184796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Команды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регистрируются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добавляют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проект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.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Эксперты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оценивают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его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по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критериям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, а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система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сразу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считает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средний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балл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строит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4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лидерборд</a:t>
            </a:r>
            <a:r>
              <a:rPr sz="24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.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97" name="Shape 97"/>
          <p:cNvSpPr/>
          <p:nvPr/>
        </p:nvSpPr>
        <p:spPr>
          <a:xfrm>
            <a:off x="932688" y="4992624"/>
            <a:ext cx="1417320" cy="411479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DCE7F7"/>
            </a:solidFill>
            <a:prstDash val="solid"/>
          </a:ln>
        </p:spPr>
      </p:sp>
      <p:sp>
        <p:nvSpPr>
          <p:cNvPr id="98" name="Shape 98"/>
          <p:cNvSpPr/>
          <p:nvPr/>
        </p:nvSpPr>
        <p:spPr>
          <a:xfrm>
            <a:off x="932688" y="5010912"/>
            <a:ext cx="1417320" cy="39319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1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Команды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9" name="Shape 99"/>
          <p:cNvSpPr/>
          <p:nvPr/>
        </p:nvSpPr>
        <p:spPr>
          <a:xfrm>
            <a:off x="2487168" y="4992624"/>
            <a:ext cx="1353312" cy="411479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DCE7F7"/>
            </a:solidFill>
            <a:prstDash val="solid"/>
          </a:ln>
        </p:spPr>
      </p:sp>
      <p:sp>
        <p:nvSpPr>
          <p:cNvPr id="100" name="Shape 100"/>
          <p:cNvSpPr/>
          <p:nvPr/>
        </p:nvSpPr>
        <p:spPr>
          <a:xfrm>
            <a:off x="2487168" y="5010912"/>
            <a:ext cx="1353312" cy="39319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1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Проекты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1" name="Shape 101"/>
          <p:cNvSpPr/>
          <p:nvPr/>
        </p:nvSpPr>
        <p:spPr>
          <a:xfrm>
            <a:off x="3977640" y="4992624"/>
            <a:ext cx="1298447" cy="411479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DCE7F7"/>
            </a:solidFill>
            <a:prstDash val="solid"/>
          </a:ln>
        </p:spPr>
      </p:sp>
      <p:sp>
        <p:nvSpPr>
          <p:cNvPr id="102" name="Shape 102"/>
          <p:cNvSpPr/>
          <p:nvPr/>
        </p:nvSpPr>
        <p:spPr>
          <a:xfrm>
            <a:off x="3977640" y="5010912"/>
            <a:ext cx="1298447" cy="39319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1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Оценка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932688" y="5779008"/>
            <a:ext cx="109727" cy="10972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104" name="Shape 104"/>
          <p:cNvSpPr/>
          <p:nvPr/>
        </p:nvSpPr>
        <p:spPr>
          <a:xfrm>
            <a:off x="1133856" y="5705856"/>
            <a:ext cx="3840480" cy="228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40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Меньше ручного труда — быстрее итог.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6318504" y="3122676"/>
            <a:ext cx="4535424" cy="2194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8" name="Shape 108"/>
          <p:cNvSpPr/>
          <p:nvPr/>
        </p:nvSpPr>
        <p:spPr>
          <a:xfrm>
            <a:off x="6318504" y="3378708"/>
            <a:ext cx="4535424" cy="1828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0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0" name="Shape 110"/>
          <p:cNvSpPr/>
          <p:nvPr/>
        </p:nvSpPr>
        <p:spPr>
          <a:xfrm>
            <a:off x="6318504" y="5074920"/>
            <a:ext cx="1975103" cy="2194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1" name="Shape 111"/>
          <p:cNvSpPr/>
          <p:nvPr/>
        </p:nvSpPr>
        <p:spPr>
          <a:xfrm>
            <a:off x="6318504" y="5330952"/>
            <a:ext cx="1975103" cy="1828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0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3" name="Shape 113"/>
          <p:cNvSpPr/>
          <p:nvPr/>
        </p:nvSpPr>
        <p:spPr>
          <a:xfrm>
            <a:off x="8878824" y="5074920"/>
            <a:ext cx="1975104" cy="2194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4" name="Shape 114"/>
          <p:cNvSpPr/>
          <p:nvPr/>
        </p:nvSpPr>
        <p:spPr>
          <a:xfrm>
            <a:off x="8878824" y="5330952"/>
            <a:ext cx="1975104" cy="1828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0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55ED3EC-4CD9-3496-42E8-CFE4FD412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938" y="130891"/>
            <a:ext cx="1172940" cy="1172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1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8" name="Shape 118"/>
          <p:cNvSpPr/>
          <p:nvPr/>
        </p:nvSpPr>
        <p:spPr>
          <a:xfrm>
            <a:off x="502919" y="292608"/>
            <a:ext cx="1536192" cy="365760"/>
          </a:xfrm>
          <a:prstGeom prst="roundRect">
            <a:avLst>
              <a:gd name="adj" fmla="val 30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5E9F2">
                <a:alpha val="80000"/>
              </a:srgbClr>
            </a:solidFill>
            <a:prstDash val="solid"/>
          </a:ln>
        </p:spPr>
      </p:sp>
      <p:sp>
        <p:nvSpPr>
          <p:cNvPr id="119" name="Shape 119"/>
          <p:cNvSpPr/>
          <p:nvPr/>
        </p:nvSpPr>
        <p:spPr>
          <a:xfrm>
            <a:off x="630936" y="365760"/>
            <a:ext cx="201168" cy="20116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120" name="Shape 120"/>
          <p:cNvSpPr/>
          <p:nvPr/>
        </p:nvSpPr>
        <p:spPr>
          <a:xfrm>
            <a:off x="905256" y="338328"/>
            <a:ext cx="1033272" cy="228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r>
              <a:rPr lang="en-US" sz="1100" b="1" dirty="0" err="1">
                <a:solidFill>
                  <a:srgbClr val="202124"/>
                </a:solidFill>
                <a:ea typeface="Segoe UI"/>
                <a:cs typeface="Segoe UI"/>
              </a:rPr>
              <a:t>WebHack</a:t>
            </a:r>
            <a:endParaRPr lang="en-US" sz="1100" dirty="0"/>
          </a:p>
        </p:txBody>
      </p:sp>
      <p:sp>
        <p:nvSpPr>
          <p:cNvPr id="125" name="Shape 125"/>
          <p:cNvSpPr/>
          <p:nvPr/>
        </p:nvSpPr>
        <p:spPr>
          <a:xfrm>
            <a:off x="4698187" y="242316"/>
            <a:ext cx="5029200" cy="512064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280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Цель</a:t>
            </a:r>
            <a:r>
              <a:rPr sz="280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0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проекта</a:t>
            </a:r>
            <a:endParaRPr sz="2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6" name="Shape 126"/>
          <p:cNvSpPr/>
          <p:nvPr/>
        </p:nvSpPr>
        <p:spPr>
          <a:xfrm>
            <a:off x="4698187" y="758952"/>
            <a:ext cx="4389120" cy="20116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Зачем</a:t>
            </a:r>
            <a:r>
              <a:rPr sz="1250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мы</a:t>
            </a:r>
            <a:r>
              <a:rPr sz="1250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сделали</a:t>
            </a:r>
            <a:r>
              <a:rPr sz="1250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этот</a:t>
            </a:r>
            <a:r>
              <a:rPr sz="1250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продукт</a:t>
            </a:r>
            <a:endParaRPr sz="12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704088" y="1280160"/>
            <a:ext cx="10981943" cy="530352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30" name="Shape 130"/>
          <p:cNvSpPr/>
          <p:nvPr/>
        </p:nvSpPr>
        <p:spPr>
          <a:xfrm>
            <a:off x="960040" y="1980398"/>
            <a:ext cx="5074920" cy="1170432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26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Создать</a:t>
            </a:r>
            <a:r>
              <a:rPr sz="265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6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удобную</a:t>
            </a:r>
            <a:r>
              <a:rPr sz="265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6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платформу</a:t>
            </a:r>
            <a:r>
              <a:rPr sz="265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6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для</a:t>
            </a:r>
            <a:r>
              <a:rPr sz="265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6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проведения</a:t>
            </a:r>
            <a:r>
              <a:rPr sz="265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65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хакатонов</a:t>
            </a:r>
            <a:endParaRPr sz="26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919214" y="3805348"/>
            <a:ext cx="109727" cy="10972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132" name="Shape 132"/>
          <p:cNvSpPr/>
          <p:nvPr/>
        </p:nvSpPr>
        <p:spPr>
          <a:xfrm>
            <a:off x="1120382" y="3649900"/>
            <a:ext cx="10437154" cy="40233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l"/>
            <a:r>
              <a:rPr sz="28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Единый</a:t>
            </a:r>
            <a:r>
              <a:rPr sz="28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цифровой</a:t>
            </a:r>
            <a:r>
              <a:rPr sz="28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процесс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133" name="Shape 133"/>
          <p:cNvSpPr/>
          <p:nvPr/>
        </p:nvSpPr>
        <p:spPr>
          <a:xfrm>
            <a:off x="905256" y="4280836"/>
            <a:ext cx="109727" cy="10972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134" name="Shape 134"/>
          <p:cNvSpPr/>
          <p:nvPr/>
        </p:nvSpPr>
        <p:spPr>
          <a:xfrm>
            <a:off x="1120382" y="4116243"/>
            <a:ext cx="10437154" cy="45720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l"/>
            <a:r>
              <a:rPr sz="28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Прозрачные</a:t>
            </a:r>
            <a:r>
              <a:rPr sz="28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критерии</a:t>
            </a:r>
            <a:r>
              <a:rPr sz="28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28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оценки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135" name="Shape 135"/>
          <p:cNvSpPr/>
          <p:nvPr/>
        </p:nvSpPr>
        <p:spPr>
          <a:xfrm>
            <a:off x="919214" y="4756324"/>
            <a:ext cx="109727" cy="10972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136" name="Shape 136"/>
          <p:cNvSpPr/>
          <p:nvPr/>
        </p:nvSpPr>
        <p:spPr>
          <a:xfrm>
            <a:off x="1120382" y="4610020"/>
            <a:ext cx="10437154" cy="40233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l"/>
            <a:r>
              <a:rPr sz="28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Автоматический</a:t>
            </a:r>
            <a:r>
              <a:rPr sz="28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подсчёт</a:t>
            </a:r>
            <a:r>
              <a:rPr sz="2800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00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результатов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7141464" y="3685032"/>
            <a:ext cx="3959352" cy="2194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7141464" y="3941064"/>
            <a:ext cx="3959352" cy="1828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0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2" name="Shape 142"/>
          <p:cNvSpPr/>
          <p:nvPr/>
        </p:nvSpPr>
        <p:spPr>
          <a:xfrm>
            <a:off x="7936992" y="5650992"/>
            <a:ext cx="2423159" cy="36575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0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CB989C8-8DBA-7F08-95BC-CD64E02EF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938" y="130891"/>
            <a:ext cx="1172940" cy="1172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/>
        </p:nvSpPr>
        <p:spPr>
          <a:xfrm>
            <a:off x="685800" y="1225296"/>
            <a:ext cx="11162947" cy="5120639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46" name="Shape 146"/>
          <p:cNvSpPr/>
          <p:nvPr/>
        </p:nvSpPr>
        <p:spPr>
          <a:xfrm>
            <a:off x="502919" y="292608"/>
            <a:ext cx="1536192" cy="365760"/>
          </a:xfrm>
          <a:prstGeom prst="roundRect">
            <a:avLst>
              <a:gd name="adj" fmla="val 30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5E9F2">
                <a:alpha val="80000"/>
              </a:srgbClr>
            </a:solidFill>
            <a:prstDash val="solid"/>
          </a:ln>
        </p:spPr>
      </p:sp>
      <p:sp>
        <p:nvSpPr>
          <p:cNvPr id="147" name="Shape 147"/>
          <p:cNvSpPr/>
          <p:nvPr/>
        </p:nvSpPr>
        <p:spPr>
          <a:xfrm>
            <a:off x="630936" y="365760"/>
            <a:ext cx="201168" cy="20116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148" name="Shape 148"/>
          <p:cNvSpPr/>
          <p:nvPr/>
        </p:nvSpPr>
        <p:spPr>
          <a:xfrm>
            <a:off x="905256" y="338328"/>
            <a:ext cx="1033272" cy="228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r>
              <a:rPr lang="en-US" sz="1100" b="1" dirty="0" err="1">
                <a:solidFill>
                  <a:srgbClr val="202124"/>
                </a:solidFill>
                <a:ea typeface="Segoe UI"/>
                <a:cs typeface="Segoe UI"/>
              </a:rPr>
              <a:t>WebHack</a:t>
            </a:r>
            <a:endParaRPr lang="en-US" sz="1100" dirty="0"/>
          </a:p>
        </p:txBody>
      </p:sp>
      <p:sp>
        <p:nvSpPr>
          <p:cNvPr id="153" name="Shape 153"/>
          <p:cNvSpPr/>
          <p:nvPr/>
        </p:nvSpPr>
        <p:spPr>
          <a:xfrm>
            <a:off x="3730752" y="298864"/>
            <a:ext cx="5029200" cy="512064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280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Почему</a:t>
            </a:r>
            <a:r>
              <a:rPr sz="280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0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именно</a:t>
            </a:r>
            <a:r>
              <a:rPr sz="2800" b="1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80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мы</a:t>
            </a:r>
            <a:endParaRPr sz="2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4" name="Shape 154"/>
          <p:cNvSpPr/>
          <p:nvPr/>
        </p:nvSpPr>
        <p:spPr>
          <a:xfrm>
            <a:off x="3730752" y="813495"/>
            <a:ext cx="4389120" cy="20116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Чем</a:t>
            </a:r>
            <a:r>
              <a:rPr sz="1250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сильна</a:t>
            </a:r>
            <a:r>
              <a:rPr sz="1250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наша</a:t>
            </a:r>
            <a:r>
              <a:rPr sz="1250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50"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команда</a:t>
            </a:r>
            <a:endParaRPr sz="12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6" name="Shape 156"/>
          <p:cNvSpPr/>
          <p:nvPr/>
        </p:nvSpPr>
        <p:spPr>
          <a:xfrm>
            <a:off x="914399" y="1648490"/>
            <a:ext cx="4379495" cy="41148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l"/>
            <a:r>
              <a:rPr lang="ru-RU" sz="3200" b="1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Примерно </a:t>
            </a:r>
            <a:r>
              <a:rPr sz="3200" b="1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35 </a:t>
            </a:r>
            <a:r>
              <a:rPr sz="3200" b="1" dirty="0" err="1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часов</a:t>
            </a:r>
            <a:r>
              <a:rPr lang="ru-RU" sz="3200" b="1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 работы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57" name="Shape 157"/>
          <p:cNvSpPr/>
          <p:nvPr/>
        </p:nvSpPr>
        <p:spPr>
          <a:xfrm>
            <a:off x="914399" y="2549570"/>
            <a:ext cx="4379495" cy="2440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от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идеи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до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рабочего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прототипа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" name="Shape 159"/>
          <p:cNvSpPr/>
          <p:nvPr/>
        </p:nvSpPr>
        <p:spPr>
          <a:xfrm>
            <a:off x="7260336" y="1648489"/>
            <a:ext cx="3639312" cy="41148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l"/>
            <a:r>
              <a:rPr sz="3200" b="1" dirty="0" err="1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Уникальный</a:t>
            </a:r>
            <a:r>
              <a:rPr sz="3200" b="1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200" b="1" dirty="0" err="1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подход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60" name="Shape 160"/>
          <p:cNvSpPr/>
          <p:nvPr/>
        </p:nvSpPr>
        <p:spPr>
          <a:xfrm>
            <a:off x="7253759" y="2514279"/>
            <a:ext cx="3639312" cy="429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не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шаблонное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решение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под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конкретную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боль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2" name="Shape 162"/>
          <p:cNvSpPr/>
          <p:nvPr/>
        </p:nvSpPr>
        <p:spPr>
          <a:xfrm>
            <a:off x="950816" y="4042611"/>
            <a:ext cx="4343078" cy="721093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l"/>
            <a:r>
              <a:rPr sz="3200" b="1" dirty="0" err="1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Современный</a:t>
            </a:r>
            <a:r>
              <a:rPr sz="3200" b="1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200" b="1" dirty="0" err="1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дизайн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63" name="Shape 163"/>
          <p:cNvSpPr/>
          <p:nvPr/>
        </p:nvSpPr>
        <p:spPr>
          <a:xfrm>
            <a:off x="914400" y="4900865"/>
            <a:ext cx="4379494" cy="43891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в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том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же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визуальном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стиле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что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продукт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Shape 165"/>
          <p:cNvSpPr/>
          <p:nvPr/>
        </p:nvSpPr>
        <p:spPr>
          <a:xfrm>
            <a:off x="7260336" y="4352225"/>
            <a:ext cx="3639312" cy="4114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l"/>
            <a:r>
              <a:rPr sz="3200" b="1" dirty="0" err="1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Актуальные</a:t>
            </a:r>
            <a:r>
              <a:rPr sz="3200" b="1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200" b="1" dirty="0" err="1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технологии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7253759" y="5029199"/>
            <a:ext cx="3639312" cy="438911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запас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для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развития</a:t>
            </a:r>
            <a:r>
              <a:rPr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dirty="0" err="1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масштабирования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9" name="Shape 169"/>
          <p:cNvSpPr/>
          <p:nvPr/>
        </p:nvSpPr>
        <p:spPr>
          <a:xfrm>
            <a:off x="7260336" y="3712464"/>
            <a:ext cx="3840479" cy="2194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0" name="Shape 170"/>
          <p:cNvSpPr/>
          <p:nvPr/>
        </p:nvSpPr>
        <p:spPr>
          <a:xfrm>
            <a:off x="7260336" y="3968496"/>
            <a:ext cx="3840479" cy="1828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0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2" name="Shape 172"/>
          <p:cNvSpPr/>
          <p:nvPr/>
        </p:nvSpPr>
        <p:spPr>
          <a:xfrm>
            <a:off x="7818119" y="5650992"/>
            <a:ext cx="2724912" cy="36575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0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09F6308-B602-310C-FA95-C637FEBFA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938" y="130891"/>
            <a:ext cx="1172940" cy="1172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17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6" name="Shape 176"/>
          <p:cNvSpPr/>
          <p:nvPr/>
        </p:nvSpPr>
        <p:spPr>
          <a:xfrm>
            <a:off x="502919" y="292608"/>
            <a:ext cx="1536192" cy="365760"/>
          </a:xfrm>
          <a:prstGeom prst="roundRect">
            <a:avLst>
              <a:gd name="adj" fmla="val 30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5E9F2">
                <a:alpha val="80000"/>
              </a:srgbClr>
            </a:solidFill>
            <a:prstDash val="solid"/>
          </a:ln>
        </p:spPr>
      </p:sp>
      <p:sp>
        <p:nvSpPr>
          <p:cNvPr id="177" name="Shape 177"/>
          <p:cNvSpPr/>
          <p:nvPr/>
        </p:nvSpPr>
        <p:spPr>
          <a:xfrm>
            <a:off x="630936" y="365760"/>
            <a:ext cx="201168" cy="20116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178" name="Shape 178"/>
          <p:cNvSpPr/>
          <p:nvPr/>
        </p:nvSpPr>
        <p:spPr>
          <a:xfrm>
            <a:off x="905256" y="338328"/>
            <a:ext cx="1033272" cy="228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r>
              <a:rPr lang="en-US" sz="1100" b="1" dirty="0" err="1">
                <a:solidFill>
                  <a:srgbClr val="202124"/>
                </a:solidFill>
                <a:ea typeface="Segoe UI"/>
                <a:cs typeface="Segoe UI"/>
              </a:rPr>
              <a:t>WebHack</a:t>
            </a:r>
            <a:endParaRPr lang="en-US" sz="1100" dirty="0"/>
          </a:p>
        </p:txBody>
      </p:sp>
      <p:sp>
        <p:nvSpPr>
          <p:cNvPr id="179" name="Shape 179"/>
          <p:cNvSpPr/>
          <p:nvPr/>
        </p:nvSpPr>
        <p:spPr>
          <a:xfrm>
            <a:off x="10899648" y="292608"/>
            <a:ext cx="768095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AECBFA"/>
            </a:solidFill>
            <a:prstDash val="dash"/>
          </a:ln>
        </p:spPr>
      </p:sp>
      <p:sp>
        <p:nvSpPr>
          <p:cNvPr id="180" name="Shape 180"/>
          <p:cNvSpPr/>
          <p:nvPr/>
        </p:nvSpPr>
        <p:spPr>
          <a:xfrm>
            <a:off x="10899648" y="310896"/>
            <a:ext cx="768095" cy="7498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/>
          <a:lstStyle/>
          <a:p>
            <a:pPr marL="0" indent="0" algn="ctr"/>
            <a:r>
              <a:rPr sz="1300" b="1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QR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1" name="Shape 181"/>
          <p:cNvSpPr/>
          <p:nvPr/>
        </p:nvSpPr>
        <p:spPr>
          <a:xfrm>
            <a:off x="685800" y="822960"/>
            <a:ext cx="530351" cy="292608"/>
          </a:xfrm>
          <a:prstGeom prst="roundRect">
            <a:avLst>
              <a:gd name="adj" fmla="val 31250"/>
            </a:avLst>
          </a:prstGeom>
          <a:solidFill>
            <a:srgbClr val="E8F0FE"/>
          </a:solidFill>
          <a:ln>
            <a:prstDash val="solid"/>
          </a:ln>
        </p:spPr>
      </p:sp>
      <p:sp>
        <p:nvSpPr>
          <p:cNvPr id="182" name="Shape 182"/>
          <p:cNvSpPr/>
          <p:nvPr/>
        </p:nvSpPr>
        <p:spPr>
          <a:xfrm>
            <a:off x="685800" y="841248"/>
            <a:ext cx="530351" cy="228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/>
          <a:lstStyle/>
          <a:p>
            <a:pPr marL="0" indent="0" algn="ctr"/>
            <a:r>
              <a:rPr sz="1100" b="1" dirty="0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0</a:t>
            </a:r>
            <a:r>
              <a:rPr lang="ru-RU" sz="1100" b="1" dirty="0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5</a:t>
            </a:r>
            <a:endParaRPr sz="11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3" name="Shape 183"/>
          <p:cNvSpPr/>
          <p:nvPr/>
        </p:nvSpPr>
        <p:spPr>
          <a:xfrm>
            <a:off x="685800" y="1133856"/>
            <a:ext cx="5029200" cy="512064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28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Будущее развитие</a:t>
            </a:r>
            <a:endParaRPr sz="2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4" name="Shape 184"/>
          <p:cNvSpPr/>
          <p:nvPr/>
        </p:nvSpPr>
        <p:spPr>
          <a:xfrm>
            <a:off x="704088" y="1755648"/>
            <a:ext cx="4389120" cy="20116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25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Куда может вырасти проект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5" name="Shape 185"/>
          <p:cNvSpPr/>
          <p:nvPr/>
        </p:nvSpPr>
        <p:spPr>
          <a:xfrm>
            <a:off x="1417320" y="3566159"/>
            <a:ext cx="9281160" cy="0"/>
          </a:xfrm>
          <a:prstGeom prst="line">
            <a:avLst/>
          </a:prstGeom>
          <a:noFill/>
          <a:ln w="25400">
            <a:solidFill>
              <a:srgbClr val="AECBFA"/>
            </a:solidFill>
            <a:prstDash val="solid"/>
          </a:ln>
        </p:spPr>
      </p:sp>
      <p:sp>
        <p:nvSpPr>
          <p:cNvPr id="186" name="Shape 186"/>
          <p:cNvSpPr/>
          <p:nvPr/>
        </p:nvSpPr>
        <p:spPr>
          <a:xfrm>
            <a:off x="713232" y="2743200"/>
            <a:ext cx="233172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87" name="Shape 187"/>
          <p:cNvSpPr/>
          <p:nvPr/>
        </p:nvSpPr>
        <p:spPr>
          <a:xfrm>
            <a:off x="877824" y="2907792"/>
            <a:ext cx="530352" cy="310895"/>
          </a:xfrm>
          <a:prstGeom prst="roundRect">
            <a:avLst>
              <a:gd name="adj" fmla="val 41176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88" name="Shape 188"/>
          <p:cNvSpPr/>
          <p:nvPr/>
        </p:nvSpPr>
        <p:spPr>
          <a:xfrm>
            <a:off x="877824" y="2926080"/>
            <a:ext cx="530352" cy="2926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0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01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9" name="Shape 189"/>
          <p:cNvSpPr/>
          <p:nvPr/>
        </p:nvSpPr>
        <p:spPr>
          <a:xfrm>
            <a:off x="877824" y="3401568"/>
            <a:ext cx="1920240" cy="2926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6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Улучшение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0" name="Shape 190"/>
          <p:cNvSpPr/>
          <p:nvPr/>
        </p:nvSpPr>
        <p:spPr>
          <a:xfrm>
            <a:off x="877824" y="3730752"/>
            <a:ext cx="1938528" cy="31089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25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процессов NVS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1" name="Shape 191"/>
          <p:cNvSpPr/>
          <p:nvPr/>
        </p:nvSpPr>
        <p:spPr>
          <a:xfrm>
            <a:off x="3319271" y="2743200"/>
            <a:ext cx="233172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92" name="Shape 192"/>
          <p:cNvSpPr/>
          <p:nvPr/>
        </p:nvSpPr>
        <p:spPr>
          <a:xfrm>
            <a:off x="3483864" y="2907792"/>
            <a:ext cx="530352" cy="310895"/>
          </a:xfrm>
          <a:prstGeom prst="roundRect">
            <a:avLst>
              <a:gd name="adj" fmla="val 41176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93" name="Shape 193"/>
          <p:cNvSpPr/>
          <p:nvPr/>
        </p:nvSpPr>
        <p:spPr>
          <a:xfrm>
            <a:off x="3483864" y="2926080"/>
            <a:ext cx="530352" cy="2926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0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02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4" name="Shape 194"/>
          <p:cNvSpPr/>
          <p:nvPr/>
        </p:nvSpPr>
        <p:spPr>
          <a:xfrm>
            <a:off x="3483864" y="3401568"/>
            <a:ext cx="1920240" cy="2926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6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Интеграции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5" name="Shape 195"/>
          <p:cNvSpPr/>
          <p:nvPr/>
        </p:nvSpPr>
        <p:spPr>
          <a:xfrm>
            <a:off x="3483864" y="3730752"/>
            <a:ext cx="1938528" cy="31089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25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с платформами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6" name="Shape 196"/>
          <p:cNvSpPr/>
          <p:nvPr/>
        </p:nvSpPr>
        <p:spPr>
          <a:xfrm>
            <a:off x="5925312" y="2743200"/>
            <a:ext cx="233172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97" name="Shape 197"/>
          <p:cNvSpPr/>
          <p:nvPr/>
        </p:nvSpPr>
        <p:spPr>
          <a:xfrm>
            <a:off x="6089904" y="2907792"/>
            <a:ext cx="530351" cy="310895"/>
          </a:xfrm>
          <a:prstGeom prst="roundRect">
            <a:avLst>
              <a:gd name="adj" fmla="val 41176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98" name="Shape 198"/>
          <p:cNvSpPr/>
          <p:nvPr/>
        </p:nvSpPr>
        <p:spPr>
          <a:xfrm>
            <a:off x="6089904" y="2926080"/>
            <a:ext cx="530351" cy="2926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0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03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9" name="Shape 199"/>
          <p:cNvSpPr/>
          <p:nvPr/>
        </p:nvSpPr>
        <p:spPr>
          <a:xfrm>
            <a:off x="6089904" y="3401568"/>
            <a:ext cx="1920239" cy="2926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6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Выход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0" name="Shape 200"/>
          <p:cNvSpPr/>
          <p:nvPr/>
        </p:nvSpPr>
        <p:spPr>
          <a:xfrm>
            <a:off x="6089904" y="3730752"/>
            <a:ext cx="1938527" cy="31089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25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на рынок РФ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1" name="Shape 201"/>
          <p:cNvSpPr/>
          <p:nvPr/>
        </p:nvSpPr>
        <p:spPr>
          <a:xfrm>
            <a:off x="8531352" y="2743200"/>
            <a:ext cx="2331719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02" name="Shape 202"/>
          <p:cNvSpPr/>
          <p:nvPr/>
        </p:nvSpPr>
        <p:spPr>
          <a:xfrm>
            <a:off x="8695944" y="2907792"/>
            <a:ext cx="530352" cy="310895"/>
          </a:xfrm>
          <a:prstGeom prst="roundRect">
            <a:avLst>
              <a:gd name="adj" fmla="val 41176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03" name="Shape 203"/>
          <p:cNvSpPr/>
          <p:nvPr/>
        </p:nvSpPr>
        <p:spPr>
          <a:xfrm>
            <a:off x="8695944" y="2926080"/>
            <a:ext cx="530352" cy="2926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0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04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8695944" y="3401568"/>
            <a:ext cx="1920240" cy="29260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6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Международный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8695944" y="3730752"/>
            <a:ext cx="1938528" cy="31089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25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рынок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1051560" y="5212080"/>
            <a:ext cx="10104120" cy="6400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20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От удобного инструмента для одного хакатона — к масштабируемой платформе для многих площадок.</a:t>
            </a:r>
            <a:endParaRPr sz="2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B6C611D-A14F-C964-6C80-801126ADB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938" y="130891"/>
            <a:ext cx="1172940" cy="11729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-3662" y="-10074"/>
            <a:ext cx="12191695" cy="6858000"/>
          </a:xfrm>
          <a:prstGeom prst="rect">
            <a:avLst/>
          </a:prstGeom>
        </p:spPr>
      </p:pic>
      <p:sp>
        <p:nvSpPr>
          <p:cNvPr id="43" name="Shape 43"/>
          <p:cNvSpPr/>
          <p:nvPr/>
        </p:nvSpPr>
        <p:spPr>
          <a:xfrm>
            <a:off x="502919" y="292608"/>
            <a:ext cx="1536192" cy="365760"/>
          </a:xfrm>
          <a:prstGeom prst="roundRect">
            <a:avLst>
              <a:gd name="adj" fmla="val 30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5E9F2">
                <a:alpha val="80000"/>
              </a:srgbClr>
            </a:solidFill>
            <a:prstDash val="solid"/>
          </a:ln>
        </p:spPr>
      </p:sp>
      <p:sp>
        <p:nvSpPr>
          <p:cNvPr id="44" name="Shape 44"/>
          <p:cNvSpPr/>
          <p:nvPr/>
        </p:nvSpPr>
        <p:spPr>
          <a:xfrm>
            <a:off x="630936" y="365760"/>
            <a:ext cx="201168" cy="20116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45" name="Shape 45"/>
          <p:cNvSpPr/>
          <p:nvPr/>
        </p:nvSpPr>
        <p:spPr>
          <a:xfrm>
            <a:off x="905256" y="338328"/>
            <a:ext cx="1033272" cy="228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r>
              <a:rPr lang="en-US" sz="1100" b="1" dirty="0" err="1">
                <a:solidFill>
                  <a:srgbClr val="202124"/>
                </a:solidFill>
                <a:ea typeface="Segoe UI"/>
                <a:cs typeface="Segoe UI"/>
              </a:rPr>
              <a:t>WebHack</a:t>
            </a:r>
            <a:endParaRPr lang="en-US" sz="1100" dirty="0"/>
          </a:p>
        </p:txBody>
      </p:sp>
      <p:sp>
        <p:nvSpPr>
          <p:cNvPr id="50" name="Shape 50"/>
          <p:cNvSpPr/>
          <p:nvPr/>
        </p:nvSpPr>
        <p:spPr>
          <a:xfrm>
            <a:off x="685800" y="1133856"/>
            <a:ext cx="5029200" cy="512064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28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Участники команды</a:t>
            </a:r>
            <a:endParaRPr sz="2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" name="Shape 51"/>
          <p:cNvSpPr/>
          <p:nvPr/>
        </p:nvSpPr>
        <p:spPr>
          <a:xfrm>
            <a:off x="704088" y="1755648"/>
            <a:ext cx="4389120" cy="201167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25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Команда «Хакеры будущего»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2" name="Shape 52"/>
          <p:cNvSpPr/>
          <p:nvPr/>
        </p:nvSpPr>
        <p:spPr>
          <a:xfrm>
            <a:off x="472587" y="2197161"/>
            <a:ext cx="3611880" cy="1444751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53" name="Shape 53"/>
          <p:cNvSpPr/>
          <p:nvPr/>
        </p:nvSpPr>
        <p:spPr>
          <a:xfrm>
            <a:off x="1664207" y="2487168"/>
            <a:ext cx="2130552" cy="56692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5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Григорян Ашот</a:t>
            </a:r>
            <a:endParaRPr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4" name="Shape 54"/>
          <p:cNvSpPr/>
          <p:nvPr/>
        </p:nvSpPr>
        <p:spPr>
          <a:xfrm>
            <a:off x="1664207" y="3145536"/>
            <a:ext cx="1920240" cy="329184"/>
          </a:xfrm>
          <a:prstGeom prst="roundRect">
            <a:avLst>
              <a:gd name="adj" fmla="val 38889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55" name="Shape 55"/>
          <p:cNvSpPr/>
          <p:nvPr/>
        </p:nvSpPr>
        <p:spPr>
          <a:xfrm>
            <a:off x="1664207" y="3163824"/>
            <a:ext cx="1920240" cy="31089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0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Frontend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6" name="Shape 56"/>
          <p:cNvSpPr/>
          <p:nvPr/>
        </p:nvSpPr>
        <p:spPr>
          <a:xfrm>
            <a:off x="4288536" y="2212848"/>
            <a:ext cx="3611879" cy="1444751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58" name="Shape 58"/>
          <p:cNvSpPr/>
          <p:nvPr/>
        </p:nvSpPr>
        <p:spPr>
          <a:xfrm>
            <a:off x="4672584" y="2679192"/>
            <a:ext cx="512064" cy="2194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9" name="Shape 59"/>
          <p:cNvSpPr/>
          <p:nvPr/>
        </p:nvSpPr>
        <p:spPr>
          <a:xfrm>
            <a:off x="5495544" y="2487168"/>
            <a:ext cx="2130551" cy="56692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5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Бруцев Кирилл</a:t>
            </a:r>
            <a:endParaRPr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0" name="Shape 60"/>
          <p:cNvSpPr/>
          <p:nvPr/>
        </p:nvSpPr>
        <p:spPr>
          <a:xfrm>
            <a:off x="5495544" y="3145536"/>
            <a:ext cx="1920239" cy="329184"/>
          </a:xfrm>
          <a:prstGeom prst="roundRect">
            <a:avLst>
              <a:gd name="adj" fmla="val 38889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1" name="Shape 61"/>
          <p:cNvSpPr/>
          <p:nvPr/>
        </p:nvSpPr>
        <p:spPr>
          <a:xfrm>
            <a:off x="5495544" y="3163824"/>
            <a:ext cx="1920239" cy="31089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0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Backend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2" name="Shape 62"/>
          <p:cNvSpPr/>
          <p:nvPr/>
        </p:nvSpPr>
        <p:spPr>
          <a:xfrm>
            <a:off x="8119872" y="2212848"/>
            <a:ext cx="3611880" cy="1444751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64" name="Shape 64"/>
          <p:cNvSpPr/>
          <p:nvPr/>
        </p:nvSpPr>
        <p:spPr>
          <a:xfrm>
            <a:off x="8503920" y="2679192"/>
            <a:ext cx="512064" cy="219455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endParaRPr sz="135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5" name="Shape 65"/>
          <p:cNvSpPr/>
          <p:nvPr/>
        </p:nvSpPr>
        <p:spPr>
          <a:xfrm>
            <a:off x="9326880" y="2487168"/>
            <a:ext cx="2130552" cy="56692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5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Бледнов Иван</a:t>
            </a:r>
            <a:endParaRPr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6" name="Shape 66"/>
          <p:cNvSpPr/>
          <p:nvPr/>
        </p:nvSpPr>
        <p:spPr>
          <a:xfrm>
            <a:off x="9326880" y="3145536"/>
            <a:ext cx="1920240" cy="329184"/>
          </a:xfrm>
          <a:prstGeom prst="roundRect">
            <a:avLst>
              <a:gd name="adj" fmla="val 38889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67" name="Shape 67"/>
          <p:cNvSpPr/>
          <p:nvPr/>
        </p:nvSpPr>
        <p:spPr>
          <a:xfrm>
            <a:off x="9326880" y="3163824"/>
            <a:ext cx="1920240" cy="31089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0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Frontend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8" name="Shape 68"/>
          <p:cNvSpPr/>
          <p:nvPr/>
        </p:nvSpPr>
        <p:spPr>
          <a:xfrm>
            <a:off x="2368296" y="4187952"/>
            <a:ext cx="3611880" cy="1444752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71" name="Shape 71"/>
          <p:cNvSpPr/>
          <p:nvPr/>
        </p:nvSpPr>
        <p:spPr>
          <a:xfrm>
            <a:off x="3575303" y="4462272"/>
            <a:ext cx="2130551" cy="56692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5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Карнаухов Роман</a:t>
            </a:r>
            <a:endParaRPr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2" name="Shape 72"/>
          <p:cNvSpPr/>
          <p:nvPr/>
        </p:nvSpPr>
        <p:spPr>
          <a:xfrm>
            <a:off x="3575303" y="5120640"/>
            <a:ext cx="1920239" cy="329184"/>
          </a:xfrm>
          <a:prstGeom prst="roundRect">
            <a:avLst>
              <a:gd name="adj" fmla="val 38889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3" name="Shape 73"/>
          <p:cNvSpPr/>
          <p:nvPr/>
        </p:nvSpPr>
        <p:spPr>
          <a:xfrm>
            <a:off x="3575303" y="5138928"/>
            <a:ext cx="1920239" cy="31089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0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Backend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6199632" y="4187952"/>
            <a:ext cx="3611880" cy="1444752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75" name="Shape 75"/>
          <p:cNvSpPr/>
          <p:nvPr/>
        </p:nvSpPr>
        <p:spPr>
          <a:xfrm>
            <a:off x="7406640" y="4462272"/>
            <a:ext cx="2130552" cy="566928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15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Метрофанова Маргорита</a:t>
            </a:r>
            <a:endParaRPr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6" name="Shape 76"/>
          <p:cNvSpPr/>
          <p:nvPr/>
        </p:nvSpPr>
        <p:spPr>
          <a:xfrm>
            <a:off x="7406640" y="5120640"/>
            <a:ext cx="1920240" cy="329184"/>
          </a:xfrm>
          <a:prstGeom prst="roundRect">
            <a:avLst>
              <a:gd name="adj" fmla="val 38889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7" name="Shape 77"/>
          <p:cNvSpPr/>
          <p:nvPr/>
        </p:nvSpPr>
        <p:spPr>
          <a:xfrm>
            <a:off x="7406640" y="5138928"/>
            <a:ext cx="1920240" cy="310896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05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Дизайн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8" name="Shape 78"/>
          <p:cNvSpPr txBox="1"/>
          <p:nvPr/>
        </p:nvSpPr>
        <p:spPr>
          <a:xfrm>
            <a:off x="664918" y="2435286"/>
            <a:ext cx="802298" cy="1097206"/>
          </a:xfrm>
          <a:prstGeom prst="rect">
            <a:avLst/>
          </a:prstGeom>
          <a:blipFill>
            <a:blip r:embed="rId3"/>
            <a:stretch/>
          </a:blipFill>
        </p:spPr>
        <p:txBody>
          <a:bodyPr vert="horz" wrap="square" lIns="90000" tIns="46800" rIns="90000" bIns="46800" anchor="ctr" anchorCtr="1">
            <a:noAutofit/>
          </a:bodyPr>
          <a:lstStyle>
            <a:defPPr/>
            <a:lvl1pPr marL="0" lvl="0" indent="0"/>
            <a:lvl2pPr marL="457200" lvl="1" indent="0"/>
            <a:lvl3pPr marL="914400" lvl="2" indent="0"/>
            <a:lvl4pPr marL="1371600" lvl="3" indent="0"/>
            <a:lvl5pPr marL="1828800" lvl="4" indent="0"/>
            <a:lvl6pPr marL="2286000" lvl="5" indent="0"/>
            <a:lvl7pPr marL="2743200" lvl="6" indent="0"/>
            <a:lvl8pPr marL="3200400" lvl="7" indent="0"/>
            <a:lvl9pPr marL="3657600" lvl="8" indent="0"/>
          </a:lstStyle>
          <a:p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9" name="Shape 79"/>
          <p:cNvSpPr txBox="1"/>
          <p:nvPr/>
        </p:nvSpPr>
        <p:spPr>
          <a:xfrm>
            <a:off x="6334125" y="4523459"/>
            <a:ext cx="1020274" cy="740019"/>
          </a:xfrm>
          <a:prstGeom prst="rect">
            <a:avLst/>
          </a:prstGeom>
          <a:blipFill>
            <a:blip r:embed="rId4"/>
            <a:stretch/>
          </a:blipFill>
        </p:spPr>
        <p:txBody>
          <a:bodyPr vert="horz" wrap="square" lIns="90000" tIns="46800" rIns="90000" bIns="46800" anchor="ctr" anchorCtr="1">
            <a:noAutofit/>
          </a:bodyPr>
          <a:lstStyle>
            <a:defPPr/>
            <a:lvl1pPr marL="0" lvl="0" indent="0"/>
            <a:lvl2pPr marL="457200" lvl="1" indent="0"/>
            <a:lvl3pPr marL="914400" lvl="2" indent="0"/>
            <a:lvl4pPr marL="1371600" lvl="3" indent="0"/>
            <a:lvl5pPr marL="1828800" lvl="4" indent="0"/>
            <a:lvl6pPr marL="2286000" lvl="5" indent="0"/>
            <a:lvl7pPr marL="2743200" lvl="6" indent="0"/>
            <a:lvl8pPr marL="3200400" lvl="7" indent="0"/>
            <a:lvl9pPr marL="3657600" lvl="8" indent="0"/>
          </a:lstStyle>
          <a:p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964" y="2420387"/>
            <a:ext cx="831768" cy="110902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9" y="2405802"/>
            <a:ext cx="850392" cy="113385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4A062A-EAF4-ED1F-8C86-D4A499E8D0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6868" y="4420369"/>
            <a:ext cx="1109863" cy="97991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02498B-C2E2-F045-581C-181B9C520D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938" y="130891"/>
            <a:ext cx="1172940" cy="1172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209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10" name="Shape 210"/>
          <p:cNvSpPr/>
          <p:nvPr/>
        </p:nvSpPr>
        <p:spPr>
          <a:xfrm>
            <a:off x="502919" y="292608"/>
            <a:ext cx="1536192" cy="365760"/>
          </a:xfrm>
          <a:prstGeom prst="roundRect">
            <a:avLst>
              <a:gd name="adj" fmla="val 300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5E9F2">
                <a:alpha val="80000"/>
              </a:srgbClr>
            </a:solidFill>
            <a:prstDash val="solid"/>
          </a:ln>
        </p:spPr>
      </p:sp>
      <p:sp>
        <p:nvSpPr>
          <p:cNvPr id="211" name="Shape 211"/>
          <p:cNvSpPr/>
          <p:nvPr/>
        </p:nvSpPr>
        <p:spPr>
          <a:xfrm>
            <a:off x="630936" y="365760"/>
            <a:ext cx="201168" cy="201168"/>
          </a:xfrm>
          <a:prstGeom prst="ellipse">
            <a:avLst/>
          </a:prstGeom>
          <a:solidFill>
            <a:srgbClr val="1A73E8"/>
          </a:solidFill>
          <a:ln>
            <a:prstDash val="solid"/>
          </a:ln>
        </p:spPr>
      </p:sp>
      <p:sp>
        <p:nvSpPr>
          <p:cNvPr id="212" name="Shape 212"/>
          <p:cNvSpPr/>
          <p:nvPr/>
        </p:nvSpPr>
        <p:spPr>
          <a:xfrm>
            <a:off x="905256" y="338328"/>
            <a:ext cx="1033272" cy="22860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lang="en-US" sz="1100" b="1" dirty="0" err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WebHack</a:t>
            </a:r>
            <a:endParaRPr sz="11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804672" y="1920240"/>
            <a:ext cx="4709160" cy="132588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/>
            <a:r>
              <a:rPr sz="31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Спасибо</a:t>
            </a:r>
            <a:endParaRPr sz="3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/>
            <a:r>
              <a:rPr sz="3100" b="1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за внимание</a:t>
            </a:r>
            <a:endParaRPr sz="3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4" name="Shape 214"/>
          <p:cNvSpPr/>
          <p:nvPr/>
        </p:nvSpPr>
        <p:spPr>
          <a:xfrm>
            <a:off x="841248" y="3822192"/>
            <a:ext cx="3291840" cy="320040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/>
          <a:lstStyle/>
          <a:p>
            <a:pPr marL="0" indent="0" algn="l"/>
            <a:r>
              <a:rPr sz="1800" b="1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Задавайте вопросы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841248" y="4434840"/>
            <a:ext cx="2542032" cy="384047"/>
          </a:xfrm>
          <a:prstGeom prst="roundRect">
            <a:avLst>
              <a:gd name="adj" fmla="val 3333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6" name="Shape 216"/>
          <p:cNvSpPr/>
          <p:nvPr/>
        </p:nvSpPr>
        <p:spPr>
          <a:xfrm>
            <a:off x="841248" y="4453128"/>
            <a:ext cx="2542032" cy="36575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/>
            <a:r>
              <a:rPr sz="1100" b="1">
                <a:solidFill>
                  <a:srgbClr val="1557B0"/>
                </a:solidFill>
                <a:latin typeface="Segoe UI"/>
                <a:ea typeface="Segoe UI"/>
                <a:cs typeface="Segoe UI"/>
              </a:rPr>
              <a:t>Команда «Хакеры будущего»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7" name="Shape 217"/>
          <p:cNvSpPr/>
          <p:nvPr/>
        </p:nvSpPr>
        <p:spPr>
          <a:xfrm>
            <a:off x="6784848" y="1152144"/>
            <a:ext cx="4526280" cy="4645152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4ED73D-957C-290D-58F2-348E50200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841" y="1527356"/>
            <a:ext cx="3803287" cy="3803287"/>
          </a:xfrm>
          <a:prstGeom prst="rect">
            <a:avLst/>
          </a:prstGeom>
        </p:spPr>
      </p:pic>
      <p:sp>
        <p:nvSpPr>
          <p:cNvPr id="221" name="Shape 221"/>
          <p:cNvSpPr/>
          <p:nvPr/>
        </p:nvSpPr>
        <p:spPr>
          <a:xfrm>
            <a:off x="7059168" y="1353312"/>
            <a:ext cx="411480" cy="411479"/>
          </a:xfrm>
          <a:prstGeom prst="rect">
            <a:avLst/>
          </a:prstGeom>
          <a:noFill/>
          <a:ln>
            <a:prstDash val="solid"/>
          </a:ln>
        </p:spPr>
        <p:txBody>
          <a:bodyPr wrap="square" lIns="0" tIns="0" rIns="0" bIns="0" anchor="ctr"/>
          <a:lstStyle/>
          <a:p>
            <a:pPr marL="0" indent="0" algn="ctr"/>
            <a:r>
              <a:rPr sz="2400">
                <a:solidFill>
                  <a:srgbClr val="000000"/>
                </a:solidFill>
                <a:latin typeface="Segoe UI Emoji"/>
                <a:ea typeface="Segoe UI Emoji"/>
                <a:cs typeface="Segoe UI Emoji"/>
              </a:rPr>
              <a:t>🚀</a:t>
            </a:r>
            <a:endParaRPr sz="2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244</TotalTime>
  <Words>201</Words>
  <Application>Microsoft Office PowerPoint</Application>
  <DocSecurity>0</DocSecurity>
  <PresentationFormat>Широкоэкранный</PresentationFormat>
  <Paragraphs>69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Segoe UI</vt:lpstr>
      <vt:lpstr>Segoe UI Emoji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Ashot Grigoryan</dc:creator>
  <cp:lastModifiedBy>admin zloy</cp:lastModifiedBy>
  <cp:revision>13</cp:revision>
  <dcterms:created xsi:type="dcterms:W3CDTF">2026-04-18T22:50:07Z</dcterms:created>
  <dcterms:modified xsi:type="dcterms:W3CDTF">2026-04-19T09:49:42Z</dcterms:modified>
</cp:coreProperties>
</file>